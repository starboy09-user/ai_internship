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AI-Powered Document Processing Pipeline</a:t>
            </a:r>
          </a:p>
          <a:p>
            <a:pPr algn="l">
              <a:spcBef>
                <a:spcPts val="1500"/>
              </a:spcBef>
              <a:defRPr sz="2000">
                <a:solidFill>
                  <a:srgbClr val="0D9488"/>
                </a:solidFill>
              </a:defRPr>
            </a:pPr>
            <a:r>
              <a:t>Automated Architecture from Upload to Actionable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Workflow Overview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Transforming unstructured documents into structured intelligence seamlessly.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1. Data Ingestion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Users upload documents in PDF or image format into the secure gateway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2860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2. Digitization &amp; OCR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Advanced Optical Character Recognition extracts precise, raw textual data from visual assets.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22860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3. Cognitive Processing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The AI Core parses text to generate context-aware summaries, answer queries, and classify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2860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4. Delivery &amp; Export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Structured data is visualized on an interactive dashboard and available for comprehensive report download.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Step-by-Step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Upload PDF/Image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Supports multiple formats including PDF, PNG, JPEG with high-resolution scaling.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3716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OCR Text Extraction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Neural network-driven text detection, multi-language layout preservation, and structural parsing.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3716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AI Processing Hub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The orchestrator layer which splits data into specific parallel operational workflows: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3716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Results &amp; Analytics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Presents structured data via real-time interactive widgets and unified analytics views.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3716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57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Download Report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Generates comprehensive executive documentation and standardized audit-ready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Deep Dive: Core AI Processing Capability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How the central AI engine splits incoming document text into three cognitive layers.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32918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Summary Engine</a:t>
            </a:r>
          </a:p>
          <a:p>
            <a:pPr>
              <a:spcBef>
                <a:spcPts val="1400"/>
              </a:spcBef>
              <a:defRPr sz="1250">
                <a:solidFill>
                  <a:srgbClr val="64748B"/>
                </a:solidFill>
              </a:defRPr>
            </a:pPr>
            <a:r>
              <a:t>Generates concise executive briefs, abstractive long-document summaries, and key takeaway bullet points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377440"/>
            <a:ext cx="32918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Q&amp;A System</a:t>
            </a:r>
          </a:p>
          <a:p>
            <a:pPr>
              <a:spcBef>
                <a:spcPts val="1400"/>
              </a:spcBef>
              <a:defRPr sz="1250">
                <a:solidFill>
                  <a:srgbClr val="64748B"/>
                </a:solidFill>
              </a:defRPr>
            </a:pPr>
            <a:r>
              <a:t>Contextual query-response model mapping. Empowers natural language search across entire data structures accurately.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377440"/>
            <a:ext cx="32918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Classification Matrix</a:t>
            </a:r>
          </a:p>
          <a:p>
            <a:pPr>
              <a:spcBef>
                <a:spcPts val="1400"/>
              </a:spcBef>
              <a:defRPr sz="1250">
                <a:solidFill>
                  <a:srgbClr val="64748B"/>
                </a:solidFill>
              </a:defRPr>
            </a:pPr>
            <a:r>
              <a:t>Automated taxonomy tagging, meta-data extraction, and intent classification for quick structural filing.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End-to-End Automation Complete</a:t>
            </a:r>
          </a:p>
          <a:p>
            <a:pPr>
              <a:spcBef>
                <a:spcPts val="1500"/>
              </a:spcBef>
              <a:defRPr sz="1800">
                <a:solidFill>
                  <a:srgbClr val="0D9488"/>
                </a:solidFill>
              </a:defRPr>
            </a:pPr>
            <a:r>
              <a:t>Ready to deploy for streamlined business workflows and intelligent data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