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us Jakarta Sans ExtraBold"/>
      <p:bold r:id="rId12"/>
      <p:boldItalic r:id="rId13"/>
    </p:embeddedFont>
    <p:embeddedFont>
      <p:font typeface="Plus Jakarta Sans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font" Target="fonts/PlusJakartaSansExtraBold-boldItalic.fntdata"/><Relationship Id="rId12" Type="http://schemas.openxmlformats.org/officeDocument/2006/relationships/font" Target="fonts/PlusJakartaSans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.fntdata"/><Relationship Id="rId14" Type="http://schemas.openxmlformats.org/officeDocument/2006/relationships/font" Target="fonts/PlusJakartaSans-regular.fntdata"/><Relationship Id="rId17" Type="http://schemas.openxmlformats.org/officeDocument/2006/relationships/font" Target="fonts/PlusJakartaSans-boldItalic.fntdata"/><Relationship Id="rId16" Type="http://schemas.openxmlformats.org/officeDocument/2006/relationships/font" Target="fonts/PlusJakartaSans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22.png"/><Relationship Id="rId13" Type="http://schemas.openxmlformats.org/officeDocument/2006/relationships/image" Target="../media/image16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5" Type="http://schemas.openxmlformats.org/officeDocument/2006/relationships/image" Target="../media/image17.png"/><Relationship Id="rId14" Type="http://schemas.openxmlformats.org/officeDocument/2006/relationships/image" Target="../media/image36.png"/><Relationship Id="rId16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27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4.png"/><Relationship Id="rId13" Type="http://schemas.openxmlformats.org/officeDocument/2006/relationships/image" Target="../media/image31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7.png"/><Relationship Id="rId9" Type="http://schemas.openxmlformats.org/officeDocument/2006/relationships/image" Target="../media/image25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23.png"/><Relationship Id="rId8" Type="http://schemas.openxmlformats.org/officeDocument/2006/relationships/image" Target="../media/image4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35.png"/><Relationship Id="rId13" Type="http://schemas.openxmlformats.org/officeDocument/2006/relationships/image" Target="../media/image37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3.png"/><Relationship Id="rId9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32.png"/><Relationship Id="rId7" Type="http://schemas.openxmlformats.org/officeDocument/2006/relationships/image" Target="../media/image30.png"/><Relationship Id="rId8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1775519"/>
            <a:ext cx="24384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0" y="3806130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095500" y="2394644"/>
            <a:ext cx="8001000" cy="11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UI Wireframe Design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Feature Blueprint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12998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intuitive front-to-back layout engineered for modern productivity, paired with a robust core cognitive toolset.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945332"/>
            <a:ext cx="5133975" cy="3748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45332"/>
            <a:ext cx="5133975" cy="3748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425" y="3442543"/>
            <a:ext cx="4448175" cy="1908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655665"/>
            <a:ext cx="4448175" cy="16950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67950" y="657225"/>
            <a:ext cx="11525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219200" y="1859607"/>
            <a:ext cx="7334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01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485900" y="2288232"/>
            <a:ext cx="42805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Home Page Concept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14425" y="2764482"/>
            <a:ext cx="44481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Designed to provide context, project statistics, and high-visibility CTAs to pipeline components.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34175" y="1859607"/>
            <a:ext cx="752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MODULE 02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029450" y="2288232"/>
            <a:ext cx="42505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Upload Gateway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29400" y="2871043"/>
            <a:ext cx="44481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Multi-format, secure, and intuitive drag-and-drop ingestion dashboard for images and files.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4425" y="231680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29400" y="231680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524000" y="3642568"/>
            <a:ext cx="38385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Project Introduction: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Clear, minimal visual brief on system capability.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524000" y="4183409"/>
            <a:ext cx="38385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Launch CTA: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Highly interactive, glow-accented upload triggers.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524000" y="4724251"/>
            <a:ext cx="38385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System Stats: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Real-time processing analytics &amp; count metrics.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038975" y="3855690"/>
            <a:ext cx="3838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PDF Ingestion: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Deep structured parse engine support.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010400" y="4183260"/>
            <a:ext cx="38671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Image Upload: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Mobile snap compatibility with layout validation.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038975" y="4724102"/>
            <a:ext cx="38385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Validation Layer: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Quick secure scan and file format checker.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14450" y="3793926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14450" y="433476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314450" y="4875609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29425" y="3900338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829425" y="4334619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829425" y="4875460"/>
            <a:ext cx="1143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962025" y="581025"/>
            <a:ext cx="10981372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System Ingestion Interface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1239" y="2009775"/>
            <a:ext cx="459923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230933"/>
            <a:ext cx="5621089" cy="1493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914775"/>
            <a:ext cx="5621089" cy="1493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39375" y="657225"/>
            <a:ext cx="11811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30764" y="2019300"/>
            <a:ext cx="458018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1409700" y="2469058"/>
            <a:ext cx="49820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Processing Interface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381125" y="4152900"/>
            <a:ext cx="50120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Results Dashboard</a:t>
            </a:r>
            <a:endParaRPr/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2497633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1240464" y="2945308"/>
            <a:ext cx="4914024" cy="213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Live Progress Bar: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Animated progress tracking.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219200" y="3272879"/>
            <a:ext cx="4935289" cy="213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Status Engine: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Tells exactly what AI layer is active (OCR, Classify, Q&amp;A).</a:t>
            </a:r>
            <a:endParaRPr/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418147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1190625" y="4629150"/>
            <a:ext cx="4963864" cy="213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Knowledge View: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Tabs for AI summaries, Q&amp;A blocks, and Classifications.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238250" y="4956720"/>
            <a:ext cx="4916239" cy="213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Download Report: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Instant audit-ready PDF/JSON exports.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9017" y="2979324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9650" y="331752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9650" y="4673798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9650" y="5001369"/>
            <a:ext cx="13335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962025" y="581025"/>
            <a:ext cx="10981372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Processing &amp; Insight Display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14612"/>
            <a:ext cx="335905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325" y="2614612"/>
            <a:ext cx="3359199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614612"/>
            <a:ext cx="335905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0" y="657225"/>
            <a:ext cx="17049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29098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1066800" y="3576637"/>
            <a:ext cx="15001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OCR Extraction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066800" y="3929062"/>
            <a:ext cx="2768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Extracts layout-aware textual content from dense tables, images, and messy PDF structures with multi-language parsing support.</a:t>
            </a:r>
            <a:endParaRPr/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11600" y="29098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4711600" y="3576637"/>
            <a:ext cx="169021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Summarization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4711600" y="3929062"/>
            <a:ext cx="276864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Dynamic abstraction engine converting lengthy business files into crisp, structured key-points and visual takeaways.</a:t>
            </a:r>
            <a:endParaRPr/>
          </a:p>
        </p:txBody>
      </p:sp>
      <p:pic>
        <p:nvPicPr>
          <p:cNvPr descr="image.png" id="160" name="Google Shape;16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6550" y="29098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8356550" y="3576637"/>
            <a:ext cx="15701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Q&amp;A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356550" y="3929062"/>
            <a:ext cx="27685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Natural language chat matrix answering deep technical queries directly from your context data without manual scrolling.</a:t>
            </a:r>
            <a:endParaRPr/>
          </a:p>
        </p:txBody>
      </p:sp>
      <p:pic>
        <p:nvPicPr>
          <p:cNvPr descr="image.png" id="163" name="Google Shape;16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14437" y="304323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59238" y="304323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61325" y="3043237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962025" y="581025"/>
            <a:ext cx="10981372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Core Feature Ecosystem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14625"/>
            <a:ext cx="33590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325" y="2714625"/>
            <a:ext cx="3359199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714625"/>
            <a:ext cx="33590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86925" y="657225"/>
            <a:ext cx="17335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30099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1066800" y="3676650"/>
            <a:ext cx="15501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Classification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066800" y="4029075"/>
            <a:ext cx="27685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Algorithms mapping uploaded files directly to corporate categories, invoices, contracts, or reference notes.</a:t>
            </a:r>
            <a:endParaRPr/>
          </a:p>
        </p:txBody>
      </p:sp>
      <p:pic>
        <p:nvPicPr>
          <p:cNvPr descr="image.png" id="180" name="Google Shape;18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11600" y="30099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4711600" y="3676650"/>
            <a:ext cx="163020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Export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4711600" y="4029075"/>
            <a:ext cx="276864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Generates structured summaries, classification results, and questions into standardized, audit-ready PDF formats.</a:t>
            </a:r>
            <a:endParaRPr/>
          </a:p>
        </p:txBody>
      </p:sp>
      <p:pic>
        <p:nvPicPr>
          <p:cNvPr descr="image.png" id="183" name="Google Shape;18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6550" y="30099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8356550" y="3676650"/>
            <a:ext cx="181022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Responsive Design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8356550" y="4029075"/>
            <a:ext cx="27685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Fluid, adaptive user experience calibrated perfectly for mobile, tablet, iPad, and massive office desktop setups.</a:t>
            </a:r>
            <a:endParaRPr/>
          </a:p>
        </p:txBody>
      </p:sp>
      <p:pic>
        <p:nvPicPr>
          <p:cNvPr descr="image.png" id="186" name="Google Shape;18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00150" y="314325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44950" y="314325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13712" y="3143250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962025" y="581025"/>
            <a:ext cx="10981372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Core Feature Ecosystem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5812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1866900" y="3574702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https://png.pngtree.com/template/20260426/ourlarge/pngtree-modern-ai-saas-dashboard-ui-kit-with-mobile-app-interface-vector-image_2070665.webp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1866900" y="3820417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962025" y="581025"/>
            <a:ext cx="10981372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Image Sources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